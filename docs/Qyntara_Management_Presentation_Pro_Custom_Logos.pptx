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10B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00A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 rot="2700000">
            <a:off x="10058400" y="5486400"/>
            <a:ext cx="2743200" cy="1828800"/>
          </a:xfrm>
          <a:prstGeom prst="triangle">
            <a:avLst/>
          </a:prstGeom>
          <a:solidFill>
            <a:srgbClr val="0A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uploaded_image_17660302995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4960" y="1371600"/>
            <a:ext cx="1196840" cy="1371600"/>
          </a:xfrm>
          <a:prstGeom prst="rect">
            <a:avLst/>
          </a:prstGeom>
        </p:spPr>
      </p:pic>
      <p:pic>
        <p:nvPicPr>
          <p:cNvPr id="5" name="Picture 4" descr="uploaded_image_0_176602314258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31920" y="2926080"/>
            <a:ext cx="4740577" cy="914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914400" y="3840480"/>
            <a:ext cx="1036015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>
                <a:solidFill>
                  <a:srgbClr val="00A2FF"/>
                </a:solidFill>
                <a:latin typeface="Arial Black"/>
              </a:defRPr>
            </a:pPr>
            <a:r>
              <a:t>QYNTARA 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5029200"/>
            <a:ext cx="85313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E6E6E6"/>
                </a:solidFill>
              </a:defRPr>
            </a:pPr>
            <a:r>
              <a:t>The Future of 3D Asset Assurance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10B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00A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 rot="2700000">
            <a:off x="10058400" y="5486400"/>
            <a:ext cx="2743200" cy="1828800"/>
          </a:xfrm>
          <a:prstGeom prst="triangle">
            <a:avLst/>
          </a:prstGeom>
          <a:solidFill>
            <a:srgbClr val="0A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uploaded_image_17660302995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47120" y="182880"/>
            <a:ext cx="478736" cy="5486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274320"/>
            <a:ext cx="9144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A2FF"/>
                </a:solidFill>
                <a:latin typeface="Arial"/>
              </a:defRPr>
            </a:pPr>
            <a:r>
              <a:t>The Challenge: Quality Bottleneck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05840"/>
            <a:ext cx="7315200" cy="18288"/>
          </a:xfrm>
          <a:prstGeom prst="rect">
            <a:avLst/>
          </a:prstGeom>
          <a:solidFill>
            <a:srgbClr val="39FF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37160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2000"/>
              </a:spcAft>
              <a:defRPr sz="2200">
                <a:solidFill>
                  <a:srgbClr val="E6E6E6"/>
                </a:solidFill>
              </a:defRPr>
            </a:pPr>
            <a:r>
              <a:t>•  Manual validation is slow, subjective, and prone to error.</a:t>
            </a:r>
          </a:p>
          <a:p>
            <a:pPr>
              <a:spcAft>
                <a:spcPts val="2000"/>
              </a:spcAft>
              <a:defRPr sz="2200">
                <a:solidFill>
                  <a:srgbClr val="E6E6E6"/>
                </a:solidFill>
              </a:defRPr>
            </a:pPr>
            <a:r>
              <a:t>•  Incorrect assets break game builds and delay releases.</a:t>
            </a:r>
          </a:p>
          <a:p>
            <a:pPr>
              <a:spcAft>
                <a:spcPts val="2000"/>
              </a:spcAft>
              <a:defRPr sz="2200">
                <a:solidFill>
                  <a:srgbClr val="E6E6E6"/>
                </a:solidFill>
              </a:defRPr>
            </a:pPr>
            <a:r>
              <a:t>•  Fixing technical debt late in production costs 10x more.</a:t>
            </a:r>
          </a:p>
          <a:p>
            <a:pPr>
              <a:spcAft>
                <a:spcPts val="2000"/>
              </a:spcAft>
              <a:defRPr sz="2200">
                <a:solidFill>
                  <a:srgbClr val="E6E6E6"/>
                </a:solidFill>
              </a:defRPr>
            </a:pPr>
            <a:r>
              <a:t>•  Outsource consistency is hard to maintain.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10B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00A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 rot="2700000">
            <a:off x="10058400" y="5486400"/>
            <a:ext cx="2743200" cy="1828800"/>
          </a:xfrm>
          <a:prstGeom prst="triangle">
            <a:avLst/>
          </a:prstGeom>
          <a:solidFill>
            <a:srgbClr val="0A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uploaded_image_17660302995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47120" y="182880"/>
            <a:ext cx="478736" cy="5486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274320"/>
            <a:ext cx="9144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A2FF"/>
                </a:solidFill>
                <a:latin typeface="Arial"/>
              </a:defRPr>
            </a:pPr>
            <a:r>
              <a:t>The Solution: Qyntara AI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05840"/>
            <a:ext cx="7315200" cy="18288"/>
          </a:xfrm>
          <a:prstGeom prst="rect">
            <a:avLst/>
          </a:prstGeom>
          <a:solidFill>
            <a:srgbClr val="39FF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37160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2000"/>
              </a:spcAft>
              <a:defRPr sz="2200">
                <a:solidFill>
                  <a:srgbClr val="E6E6E6"/>
                </a:solidFill>
              </a:defRPr>
            </a:pPr>
            <a:r>
              <a:t>•  Automated Plugin: Runs directly in Autodesk Maya.</a:t>
            </a:r>
          </a:p>
          <a:p>
            <a:pPr>
              <a:spcAft>
                <a:spcPts val="2000"/>
              </a:spcAft>
              <a:defRPr sz="2200">
                <a:solidFill>
                  <a:srgbClr val="E6E6E6"/>
                </a:solidFill>
              </a:defRPr>
            </a:pPr>
            <a:r>
              <a:t>•  Rule-Based Engine: 40+ deterministic checks (N-gons, UVs).</a:t>
            </a:r>
          </a:p>
          <a:p>
            <a:pPr>
              <a:spcAft>
                <a:spcPts val="2000"/>
              </a:spcAft>
              <a:defRPr sz="2200">
                <a:solidFill>
                  <a:srgbClr val="E6E6E6"/>
                </a:solidFill>
              </a:defRPr>
            </a:pPr>
            <a:r>
              <a:t>•  AI Analysis: Deep Learning for subjective quality assessment.</a:t>
            </a:r>
          </a:p>
          <a:p>
            <a:pPr>
              <a:spcAft>
                <a:spcPts val="2000"/>
              </a:spcAft>
              <a:defRPr sz="2200">
                <a:solidFill>
                  <a:srgbClr val="E6E6E6"/>
                </a:solidFill>
              </a:defRPr>
            </a:pPr>
            <a:r>
              <a:t>•  One-Click Auto-Fix: Resolves 80% of topology errors instantly.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10B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00A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 rot="2700000">
            <a:off x="10058400" y="5486400"/>
            <a:ext cx="2743200" cy="1828800"/>
          </a:xfrm>
          <a:prstGeom prst="triangle">
            <a:avLst/>
          </a:prstGeom>
          <a:solidFill>
            <a:srgbClr val="0A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uploaded_image_17660302995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47120" y="182880"/>
            <a:ext cx="478736" cy="5486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274320"/>
            <a:ext cx="9144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>
                <a:solidFill>
                  <a:srgbClr val="00A2FF"/>
                </a:solidFill>
              </a:defRPr>
            </a:pPr>
            <a:r>
              <a:t>Modern Hybrid Architecture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2286000"/>
            <a:ext cx="2743200" cy="3200400"/>
          </a:xfrm>
          <a:prstGeom prst="roundRect">
            <a:avLst/>
          </a:prstGeom>
          <a:solidFill>
            <a:srgbClr val="141E32"/>
          </a:solidFill>
          <a:ln w="25400">
            <a:solidFill>
              <a:srgbClr val="00A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b="1"/>
            </a:pPr>
            <a:r>
              <a:t>ARTIST</a:t>
            </a:r>
          </a:p>
          <a:p>
            <a:r>
              <a:t>(Maya Client)</a:t>
            </a:r>
          </a:p>
        </p:txBody>
      </p:sp>
      <p:sp>
        <p:nvSpPr>
          <p:cNvPr id="7" name="Cloud 6"/>
          <p:cNvSpPr/>
          <p:nvPr/>
        </p:nvSpPr>
        <p:spPr>
          <a:xfrm>
            <a:off x="7772400" y="2286000"/>
            <a:ext cx="3200400" cy="3200400"/>
          </a:xfrm>
          <a:prstGeom prst="cloud">
            <a:avLst/>
          </a:prstGeom>
          <a:solidFill>
            <a:srgbClr val="28143C"/>
          </a:solidFill>
          <a:ln w="25400">
            <a:solidFill>
              <a:srgbClr val="9D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QYNTARA CLOUD</a:t>
            </a:r>
          </a:p>
          <a:p>
            <a:r>
              <a:t>(Validator Farm)</a:t>
            </a:r>
          </a:p>
        </p:txBody>
      </p:sp>
      <p:sp>
        <p:nvSpPr>
          <p:cNvPr id="8" name="Right Arrow 7"/>
          <p:cNvSpPr/>
          <p:nvPr/>
        </p:nvSpPr>
        <p:spPr>
          <a:xfrm>
            <a:off x="3840480" y="3474720"/>
            <a:ext cx="3749039" cy="731520"/>
          </a:xfrm>
          <a:prstGeom prst="rightArrow">
            <a:avLst/>
          </a:prstGeom>
          <a:solidFill>
            <a:srgbClr val="64646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t>Secure HTTPS / API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66928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i="1"/>
            </a:pPr>
            <a:r>
              <a:t>Hybrid Integration: Instant feedback locally, massive scalability remotely.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10B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00A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 rot="2700000">
            <a:off x="10058400" y="5486400"/>
            <a:ext cx="2743200" cy="1828800"/>
          </a:xfrm>
          <a:prstGeom prst="triangle">
            <a:avLst/>
          </a:prstGeom>
          <a:solidFill>
            <a:srgbClr val="0A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uploaded_image_17660302995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47120" y="182880"/>
            <a:ext cx="478736" cy="5486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274320"/>
            <a:ext cx="9144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A2FF"/>
                </a:solidFill>
                <a:latin typeface="Arial"/>
              </a:defRPr>
            </a:pPr>
            <a:r>
              <a:t>Full Technology Stack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05840"/>
            <a:ext cx="7315200" cy="18288"/>
          </a:xfrm>
          <a:prstGeom prst="rect">
            <a:avLst/>
          </a:prstGeom>
          <a:solidFill>
            <a:srgbClr val="39FF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37160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2000"/>
              </a:spcAft>
              <a:defRPr sz="2200">
                <a:solidFill>
                  <a:srgbClr val="E6E6E6"/>
                </a:solidFill>
              </a:defRPr>
            </a:pPr>
            <a:r>
              <a:t>•  Core: Autodesk Maya 2022-2025, Python 3.9, PySide2/6.</a:t>
            </a:r>
          </a:p>
          <a:p>
            <a:pPr>
              <a:spcAft>
                <a:spcPts val="2000"/>
              </a:spcAft>
              <a:defRPr sz="2200">
                <a:solidFill>
                  <a:srgbClr val="E6E6E6"/>
                </a:solidFill>
              </a:defRPr>
            </a:pPr>
            <a:r>
              <a:t>•  Backend: FastAPI (Rest API), Redis Queue, Docker.</a:t>
            </a:r>
          </a:p>
          <a:p>
            <a:pPr>
              <a:spcAft>
                <a:spcPts val="2000"/>
              </a:spcAft>
              <a:defRPr sz="2200">
                <a:solidFill>
                  <a:srgbClr val="E6E6E6"/>
                </a:solidFill>
              </a:defRPr>
            </a:pPr>
            <a:r>
              <a:t>•  Geometry: OpenMaya (C++ Wrapper), NumPy, Trimesh.</a:t>
            </a:r>
          </a:p>
          <a:p>
            <a:pPr>
              <a:spcAft>
                <a:spcPts val="2000"/>
              </a:spcAft>
              <a:defRPr sz="2200">
                <a:solidFill>
                  <a:srgbClr val="E6E6E6"/>
                </a:solidFill>
              </a:defRPr>
            </a:pPr>
            <a:r>
              <a:t>•  AI Engine: PyTorch (MeshAnomalyNet Point Cloud Model).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10B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00A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 rot="2700000">
            <a:off x="10058400" y="5486400"/>
            <a:ext cx="2743200" cy="1828800"/>
          </a:xfrm>
          <a:prstGeom prst="triangle">
            <a:avLst/>
          </a:prstGeom>
          <a:solidFill>
            <a:srgbClr val="0A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uploaded_image_17660302995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47120" y="182880"/>
            <a:ext cx="478736" cy="5486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274320"/>
            <a:ext cx="9144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A2FF"/>
                </a:solidFill>
                <a:latin typeface="Arial"/>
              </a:defRPr>
            </a:pPr>
            <a:r>
              <a:t>Return on Investment (ROI)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05840"/>
            <a:ext cx="7315200" cy="18288"/>
          </a:xfrm>
          <a:prstGeom prst="rect">
            <a:avLst/>
          </a:prstGeom>
          <a:solidFill>
            <a:srgbClr val="39FF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37160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2000"/>
              </a:spcAft>
              <a:defRPr sz="2200">
                <a:solidFill>
                  <a:srgbClr val="E6E6E6"/>
                </a:solidFill>
              </a:defRPr>
            </a:pPr>
            <a:r>
              <a:t>•  Speed: Validation time from 2 hours -&gt; 5 seconds.</a:t>
            </a:r>
          </a:p>
          <a:p>
            <a:pPr>
              <a:spcAft>
                <a:spcPts val="2000"/>
              </a:spcAft>
              <a:defRPr sz="2200">
                <a:solidFill>
                  <a:srgbClr val="E6E6E6"/>
                </a:solidFill>
              </a:defRPr>
            </a:pPr>
            <a:r>
              <a:t>•  Confidence: 100% technical compliance guaranteed.</a:t>
            </a:r>
          </a:p>
          <a:p>
            <a:pPr>
              <a:spcAft>
                <a:spcPts val="2000"/>
              </a:spcAft>
              <a:defRPr sz="2200">
                <a:solidFill>
                  <a:srgbClr val="E6E6E6"/>
                </a:solidFill>
              </a:defRPr>
            </a:pPr>
            <a:r>
              <a:t>•  Scalability: Cloud backend handles unlimited bulk processing.</a:t>
            </a:r>
          </a:p>
          <a:p>
            <a:pPr>
              <a:spcAft>
                <a:spcPts val="2000"/>
              </a:spcAft>
              <a:defRPr sz="2200">
                <a:solidFill>
                  <a:srgbClr val="E6E6E6"/>
                </a:solidFill>
              </a:defRPr>
            </a:pPr>
            <a:r>
              <a:t>•  Workflow: Artists stay compatible with Unity/Unreal automatically.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10B1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00A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Isosceles Triangle 2"/>
          <p:cNvSpPr/>
          <p:nvPr/>
        </p:nvSpPr>
        <p:spPr>
          <a:xfrm rot="2700000">
            <a:off x="10058400" y="5486400"/>
            <a:ext cx="2743200" cy="1828800"/>
          </a:xfrm>
          <a:prstGeom prst="triangle">
            <a:avLst/>
          </a:prstGeom>
          <a:solidFill>
            <a:srgbClr val="0A14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uploaded_image_17660302995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47120" y="182880"/>
            <a:ext cx="478736" cy="5486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274320"/>
            <a:ext cx="9144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0A2FF"/>
                </a:solidFill>
                <a:latin typeface="Arial"/>
              </a:defRPr>
            </a:pPr>
            <a:r>
              <a:t>Future Roadmap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005840"/>
            <a:ext cx="7315200" cy="18288"/>
          </a:xfrm>
          <a:prstGeom prst="rect">
            <a:avLst/>
          </a:prstGeom>
          <a:solidFill>
            <a:srgbClr val="39FF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37160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Aft>
                <a:spcPts val="2000"/>
              </a:spcAft>
              <a:defRPr sz="2200">
                <a:solidFill>
                  <a:srgbClr val="E6E6E6"/>
                </a:solidFill>
              </a:defRPr>
            </a:pPr>
            <a:r>
              <a:t>•  Q3 2025: Multi-DCC Support (Blender, 3ds Max).</a:t>
            </a:r>
          </a:p>
          <a:p>
            <a:pPr>
              <a:spcAft>
                <a:spcPts val="2000"/>
              </a:spcAft>
              <a:defRPr sz="2200">
                <a:solidFill>
                  <a:srgbClr val="E6E6E6"/>
                </a:solidFill>
              </a:defRPr>
            </a:pPr>
            <a:r>
              <a:t>•  Q4 2025: CI/CD Pipeline Integration.</a:t>
            </a:r>
          </a:p>
          <a:p>
            <a:pPr>
              <a:spcAft>
                <a:spcPts val="2000"/>
              </a:spcAft>
              <a:defRPr sz="2200">
                <a:solidFill>
                  <a:srgbClr val="E6E6E6"/>
                </a:solidFill>
              </a:defRPr>
            </a:pPr>
            <a:r>
              <a:t>•  Q2 2026: Generative Geometry Repair (Auto-Retopology).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